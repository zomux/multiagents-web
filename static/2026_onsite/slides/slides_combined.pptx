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png"/><Relationship Id="rId9" Type="http://schemas.openxmlformats.org/officeDocument/2006/relationships/image" Target="../media/image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wm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1371600" cy="13452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0" y="1371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365D"/>
                </a:solidFill>
              </a:defRPr>
            </a:pPr>
            <a:r>
              <a:t>WMAC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</a:defRPr>
            </a:pPr>
            <a:r>
              <a:t>AAAI 2026 Bridge Program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</a:defRPr>
            </a:pPr>
            <a:r>
              <a:t>Advancing LLM-Based Multi-Agent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</a:defRPr>
            </a:pPr>
            <a:r>
              <a:t>January 20, 2026, Singapore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9795"/>
                </a:solidFill>
              </a:defRPr>
            </a:pPr>
            <a:r>
              <a:t>multiagents.org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</a:defRPr>
            </a:pPr>
            <a:r>
              <a:t>Advancing LLM-Based Multi-Agent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365D"/>
                </a:solidFill>
              </a:defRPr>
            </a:pPr>
            <a:r>
              <a:t>• AI Agents driven by LLMs are becoming capable of complex task solving</a:t>
            </a:r>
          </a:p>
          <a:p>
            <a:pPr>
              <a:defRPr sz="1100">
                <a:solidFill>
                  <a:srgbClr val="1A365D"/>
                </a:solidFill>
              </a:defRPr>
            </a:pPr>
            <a:r>
              <a:t>• Rise of Multi-Agent Collaboration</a:t>
            </a:r>
          </a:p>
          <a:p>
            <a:pPr>
              <a:defRPr sz="1100">
                <a:solidFill>
                  <a:srgbClr val="1A365D"/>
                </a:solidFill>
              </a:defRPr>
            </a:pPr>
            <a:r>
              <a:t>• Open challenges remain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Program Organizers</a:t>
            </a:r>
          </a:p>
        </p:txBody>
      </p:sp>
      <p:pic>
        <p:nvPicPr>
          <p:cNvPr id="5" name="Picture 4" descr="circle_raphael_shu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9164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560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65D"/>
                </a:solidFill>
              </a:defRPr>
            </a:pPr>
            <a:r>
              <a:t>Raphael Shu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19795"/>
                </a:solidFill>
              </a:defRPr>
            </a:pPr>
            <a:r>
              <a:t>Chair</a:t>
            </a:r>
          </a:p>
        </p:txBody>
      </p:sp>
      <p:pic>
        <p:nvPicPr>
          <p:cNvPr id="8" name="Picture 7" descr="circle_yusen_zha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691640"/>
            <a:ext cx="822960" cy="822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34640" y="2560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65D"/>
                </a:solidFill>
              </a:defRPr>
            </a:pPr>
            <a:r>
              <a:t>Yusen Zhang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7432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19795"/>
                </a:solidFill>
              </a:defRPr>
            </a:pPr>
            <a:r>
              <a:t>Co-Chair</a:t>
            </a:r>
          </a:p>
        </p:txBody>
      </p:sp>
      <p:pic>
        <p:nvPicPr>
          <p:cNvPr id="11" name="Picture 10" descr="circle_alborz_geramif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691640"/>
            <a:ext cx="822960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46320" y="2560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65D"/>
                </a:solidFill>
              </a:defRPr>
            </a:pPr>
            <a:r>
              <a:t>Alborz Geramifard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7432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18096"/>
                </a:solidFill>
              </a:defRPr>
            </a:pPr>
            <a:r>
              <a:t>LinkedIn</a:t>
            </a:r>
          </a:p>
        </p:txBody>
      </p:sp>
      <p:pic>
        <p:nvPicPr>
          <p:cNvPr id="14" name="Picture 13" descr="circle_alex_mar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691640"/>
            <a:ext cx="822960" cy="822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0" y="2560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65D"/>
                </a:solidFill>
              </a:defRPr>
            </a:pPr>
            <a:r>
              <a:t>Alex Marin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7432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18096"/>
                </a:solidFill>
              </a:defRPr>
            </a:pPr>
            <a:r>
              <a:t>Thomson Reuters</a:t>
            </a:r>
          </a:p>
        </p:txBody>
      </p:sp>
      <p:pic>
        <p:nvPicPr>
          <p:cNvPr id="17" name="Picture 16" descr="circle_weiyan_sh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063240"/>
            <a:ext cx="822960" cy="822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60" y="3931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65D"/>
                </a:solidFill>
              </a:defRPr>
            </a:pPr>
            <a:r>
              <a:t>Weiyan 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18096"/>
                </a:solidFill>
              </a:defRPr>
            </a:pPr>
            <a:r>
              <a:t>Northeastern</a:t>
            </a:r>
          </a:p>
        </p:txBody>
      </p:sp>
      <p:pic>
        <p:nvPicPr>
          <p:cNvPr id="20" name="Picture 19" descr="circle_tao_yu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8960" y="3063240"/>
            <a:ext cx="822960" cy="8229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834640" y="3931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65D"/>
                </a:solidFill>
              </a:defRPr>
            </a:pPr>
            <a:r>
              <a:t>Tao Yu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1148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18096"/>
                </a:solidFill>
              </a:defRPr>
            </a:pPr>
            <a:r>
              <a:t>HKU</a:t>
            </a:r>
          </a:p>
        </p:txBody>
      </p:sp>
      <p:pic>
        <p:nvPicPr>
          <p:cNvPr id="23" name="Picture 22" descr="circle_yi_zha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3063240"/>
            <a:ext cx="822960" cy="822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46320" y="3931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65D"/>
                </a:solidFill>
              </a:defRPr>
            </a:pPr>
            <a:r>
              <a:t>Yi Zhang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1148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18096"/>
                </a:solidFill>
              </a:defRPr>
            </a:pPr>
            <a:r>
              <a:t>AWS</a:t>
            </a:r>
          </a:p>
        </p:txBody>
      </p:sp>
      <p:pic>
        <p:nvPicPr>
          <p:cNvPr id="26" name="Picture 25" descr="circle_jeffrey_cho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0" y="3063240"/>
            <a:ext cx="822960" cy="8229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8000" y="3931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65D"/>
                </a:solidFill>
              </a:defRPr>
            </a:pPr>
            <a:r>
              <a:t>Jeffrey Cho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1148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18096"/>
                </a:solidFill>
              </a:defRPr>
            </a:pPr>
            <a:r>
              <a:t>UPenn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SPONSORS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</a:defRPr>
            </a:pPr>
            <a:r>
              <a:t>We thank our sponsors for their generous support</a:t>
            </a:r>
          </a:p>
        </p:txBody>
      </p:sp>
      <p:pic>
        <p:nvPicPr>
          <p:cNvPr id="4" name="Picture 3" descr="linked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1097280" cy="731520"/>
          </a:xfrm>
          <a:prstGeom prst="rect">
            <a:avLst/>
          </a:prstGeom>
        </p:spPr>
      </p:pic>
      <p:pic>
        <p:nvPicPr>
          <p:cNvPr id="5" name="Picture 4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011680"/>
            <a:ext cx="1097280" cy="731520"/>
          </a:xfrm>
          <a:prstGeom prst="rect">
            <a:avLst/>
          </a:prstGeom>
        </p:spPr>
      </p:pic>
      <p:pic>
        <p:nvPicPr>
          <p:cNvPr id="6" name="Picture 5" descr="youwar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011680"/>
            <a:ext cx="219456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9795"/>
                </a:solidFill>
              </a:defRPr>
            </a:pPr>
            <a:r>
              <a:t>multiagents.org/2026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WMAC 2026 PROGRAM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19795"/>
                </a:solidFill>
              </a:defRPr>
            </a:pPr>
            <a:r>
              <a:t>MORNING SESSIONS 9:00 ~ 12:30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365D"/>
                </a:solidFill>
              </a:defRPr>
            </a:pPr>
            <a: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365D"/>
                </a:solidFill>
              </a:defRPr>
            </a:pPr>
            <a:r>
              <a:t>Invited Talk 1 (Yi R. Fung)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365D"/>
                </a:solidFill>
              </a:defRPr>
            </a:pPr>
            <a:r>
              <a:t>WMAC History and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365D"/>
                </a:solidFill>
              </a:defRPr>
            </a:pPr>
            <a:r>
              <a:t>Lightning Talks for Posters (30 mins)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365D"/>
                </a:solidFill>
              </a:defRPr>
            </a:pPr>
            <a:r>
              <a:t>Coffee Break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365D"/>
                </a:solidFill>
              </a:defRPr>
            </a:pPr>
            <a:r>
              <a:t>Invited Talk 2 (Sophia Han)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365D"/>
                </a:solidFill>
              </a:defRPr>
            </a:pPr>
            <a:r>
              <a:t>Poster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19795"/>
                </a:solidFill>
              </a:defRPr>
            </a:pPr>
            <a:r>
              <a:t>AFTERNOON SESSIONS 13:50 ~ 18:15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365D"/>
                </a:solidFill>
              </a:defRPr>
            </a:pPr>
            <a:r>
              <a:t>Invited Talk 3 (Matthew Taylor)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365D"/>
                </a:solidFill>
              </a:defRPr>
            </a:pPr>
            <a:r>
              <a:t>Specially Invited Oral Talk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365D"/>
                </a:solidFill>
              </a:defRPr>
            </a:pPr>
            <a:r>
              <a:t>Fireside Chat &amp; 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1488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365D"/>
                </a:solidFill>
              </a:defRPr>
            </a:pPr>
            <a:r>
              <a:t>Oral Presentations 2 &amp;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365D"/>
                </a:solidFill>
              </a:defRPr>
            </a:pPr>
            <a:r>
              <a:t>Industrial Demo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365D"/>
                </a:solidFill>
              </a:defRPr>
            </a:pPr>
            <a:r>
              <a:t>Oral Presentation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1089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365D"/>
                </a:solidFill>
              </a:defRPr>
            </a:pPr>
            <a:r>
              <a:t>Award &amp; Closing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9795"/>
                </a:solidFill>
              </a:defRPr>
            </a:pPr>
            <a:r>
              <a:t>multiagents.org/2026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ATTENDANCE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</a:defRPr>
            </a:pPr>
            <a:r>
              <a:t>Room: Topaz 220 – 225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</a:defRPr>
            </a:pPr>
            <a:r>
              <a:t>See venue map on multiagents.org/2026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</a:defRPr>
            </a:pPr>
            <a:r>
              <a:t>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</a:defRPr>
            </a:pPr>
            <a:r>
              <a:t>Register with "AAAI Tutorial/Lab/Bridge only" or</a:t>
            </a:r>
            <a:br/>
            <a:r>
              <a:t>"Bridges, Tutorials and Labs Add-on"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</a:defRPr>
            </a:pPr>
            <a:r>
              <a:t>Papers &amp; Posters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</a:defRPr>
            </a:pPr>
            <a:r>
              <a:t>Available at multiagents.org/2026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</a:defRPr>
            </a:pPr>
            <a:r>
              <a:t>Remote Participation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</a:defRPr>
            </a:pPr>
            <a:r>
              <a:t>In-person encouraged, remote supported for talks</a:t>
            </a:r>
            <a:br/>
            <a:r>
              <a:t>multiagents.org/2026_remote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9795"/>
                </a:solidFill>
              </a:defRPr>
            </a:pPr>
            <a:r>
              <a:t>multiagents.org/2026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HOW TO ASK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</a:defRPr>
            </a:pPr>
            <a:r>
              <a:t>You can raise questions to speakers or the event organizers through: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Discord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</a:defRPr>
            </a:pPr>
            <a:r>
              <a:t>Join our Discord server for real-time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9795"/>
                </a:solidFill>
              </a:defRPr>
            </a:pPr>
            <a:r>
              <a:t>https://discord.gg/PLACEHOLDER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Underline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</a:defRPr>
            </a:pPr>
            <a:r>
              <a:t>Submit questions through the Underline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9795"/>
                </a:solidFill>
              </a:defRPr>
            </a:pPr>
            <a:r>
              <a:t>https://underline.io/PLACEHOLDER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9795"/>
                </a:solidFill>
              </a:defRPr>
            </a:pPr>
            <a:r>
              <a:t>multiagents.org/2026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REMINDERS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Goodies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</a:defRPr>
            </a:pPr>
            <a:r>
              <a:t>We have prepared t-shirts and tote bags for attendees.</a:t>
            </a:r>
            <a:br/>
            <a:r>
              <a:t>Please check in with a volunteer to obtain your goodies.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Lunchtime Gathering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</a:defRPr>
            </a:pPr>
            <a:r>
              <a:t>After the poster session, please come back to this room.</a:t>
            </a:r>
            <a:br/>
            <a:r>
              <a:t>We may have lunchbox and drinks available for attendees.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9795"/>
                </a:solidFill>
              </a:defRPr>
            </a:pPr>
            <a:r>
              <a:t>multiagents.org/2026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FOR PRESENTERS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365D"/>
                </a:solidFill>
              </a:defRPr>
            </a:pPr>
            <a:r>
              <a:t>• Confirm program agenda</a:t>
            </a:r>
          </a:p>
          <a:p>
            <a:pPr>
              <a:defRPr sz="1400">
                <a:solidFill>
                  <a:srgbClr val="1A365D"/>
                </a:solidFill>
              </a:defRPr>
            </a:pPr>
            <a:r>
              <a:t>• Check in with moderators 15 mins before presentation</a:t>
            </a:r>
          </a:p>
          <a:p>
            <a:pPr>
              <a:defRPr sz="1400">
                <a:solidFill>
                  <a:srgbClr val="1A365D"/>
                </a:solidFill>
              </a:defRPr>
            </a:pPr>
            <a:r>
              <a:t>• All presentations will be in-person</a:t>
            </a:r>
          </a:p>
          <a:p>
            <a:pPr>
              <a:defRPr sz="1400">
                <a:solidFill>
                  <a:srgbClr val="1A365D"/>
                </a:solidFill>
              </a:defRPr>
            </a:pPr>
            <a:r>
              <a:t>• Oral presentations: 20 mins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9795"/>
                </a:solidFill>
              </a:defRPr>
            </a:pPr>
            <a:r>
              <a:t>multiagents.org/2026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wm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731520"/>
            <a:ext cx="1097280" cy="10762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66160" y="731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365D"/>
                </a:solidFill>
              </a:defRPr>
            </a:pPr>
            <a:r>
              <a:t>WMAC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AAAI 2026 Bridge Program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</a:defRPr>
            </a:pPr>
            <a:r>
              <a:t>Advancing LLM-Based Multi-Agent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783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</a:defRPr>
            </a:pPr>
            <a:r>
              <a:t>January 20, 2026, Singapore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65D"/>
                </a:solidFill>
              </a:defRPr>
            </a:pPr>
            <a:r>
              <a:t>COFFEE BREAK UNTIL 10:45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9795"/>
                </a:solidFill>
              </a:defRPr>
            </a:pPr>
            <a:r>
              <a:t>multiagents.org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wm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731520"/>
            <a:ext cx="1097280" cy="10762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66160" y="731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365D"/>
                </a:solidFill>
              </a:defRPr>
            </a:pPr>
            <a:r>
              <a:t>WMAC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AAAI 2026 Bridge Program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</a:defRPr>
            </a:pPr>
            <a:r>
              <a:t>Advancing LLM-Based Multi-Agent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783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</a:defRPr>
            </a:pPr>
            <a:r>
              <a:t>January 20, 2026, Singapore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65D"/>
                </a:solidFill>
              </a:defRPr>
            </a:pPr>
            <a:r>
              <a:t>POSTER SESSION 11:30 - 12:30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9795"/>
                </a:solidFill>
              </a:defRPr>
            </a:pPr>
            <a:r>
              <a:t>multiagents.org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wm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731520"/>
            <a:ext cx="1097280" cy="10762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66160" y="731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365D"/>
                </a:solidFill>
              </a:defRPr>
            </a:pPr>
            <a:r>
              <a:t>WMAC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AAAI 2026 Bridge Program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</a:defRPr>
            </a:pPr>
            <a:r>
              <a:t>Advancing LLM-Based Multi-Agent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783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</a:defRPr>
            </a:pPr>
            <a:r>
              <a:t>January 20, 2026, Singapore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65D"/>
                </a:solidFill>
              </a:defRPr>
            </a:pPr>
            <a:r>
              <a:t>LUNCH BREAK 12:30 - 13:50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9795"/>
                </a:solidFill>
              </a:defRPr>
            </a:pPr>
            <a:r>
              <a:t>multiagents.org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wm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731520"/>
            <a:ext cx="1097280" cy="10762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66160" y="731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365D"/>
                </a:solidFill>
              </a:defRPr>
            </a:pPr>
            <a:r>
              <a:t>WMAC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AAAI 2026 Bridge Program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</a:defRPr>
            </a:pPr>
            <a:r>
              <a:t>Advancing LLM-Based Multi-Agent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783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</a:defRPr>
            </a:pPr>
            <a:r>
              <a:t>January 20, 2026, Singapore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65D"/>
                </a:solidFill>
              </a:defRPr>
            </a:pPr>
            <a:r>
              <a:t>COFFEE BREAK UNTIL 16:05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9795"/>
                </a:solidFill>
              </a:defRPr>
            </a:pPr>
            <a:r>
              <a:t>multiagents.org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wm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731520"/>
            <a:ext cx="1097280" cy="10762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66160" y="731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365D"/>
                </a:solidFill>
              </a:defRPr>
            </a:pPr>
            <a:r>
              <a:t>WMAC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AAAI 2026 Bridge Program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</a:defRPr>
            </a:pPr>
            <a:r>
              <a:t>Advancing LLM-Based Multi-Agent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783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</a:defRPr>
            </a:pPr>
            <a:r>
              <a:t>January 20, 2026, Singapore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65D"/>
                </a:solidFill>
              </a:defRPr>
            </a:pPr>
            <a:r>
              <a:t>COFFEE BREAK UNTIL 17:00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9795"/>
                </a:solidFill>
              </a:defRPr>
            </a:pPr>
            <a:r>
              <a:t>multiagents.org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wm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731520"/>
            <a:ext cx="1097280" cy="10762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66160" y="731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365D"/>
                </a:solidFill>
              </a:defRPr>
            </a:pPr>
            <a:r>
              <a:t>WMAC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AAAI 2026 Bridge Program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</a:defRPr>
            </a:pPr>
            <a:r>
              <a:t>Advancing LLM-Based Multi-Agent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783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</a:defRPr>
            </a:pPr>
            <a:r>
              <a:t>January 20, 2026, Singapore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65D"/>
                </a:solidFill>
              </a:defRPr>
            </a:pPr>
            <a:r>
              <a:t>FIRESIDE CHAT &amp; 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9795"/>
                </a:solidFill>
              </a:defRPr>
            </a:pPr>
            <a:r>
              <a:t>multiagents.org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wm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731520"/>
            <a:ext cx="1097280" cy="10762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66160" y="731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365D"/>
                </a:solidFill>
              </a:defRPr>
            </a:pPr>
            <a:r>
              <a:t>WMAC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AAAI 2026 Bridge Program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</a:defRPr>
            </a:pPr>
            <a:r>
              <a:t>Advancing LLM-Based Multi-Agent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783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</a:defRPr>
            </a:pPr>
            <a:r>
              <a:t>January 20, 2026, Singapore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65D"/>
                </a:solidFill>
              </a:defRPr>
            </a:pPr>
            <a:r>
              <a:t>INDUSTRIAL DEMO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</a:defRPr>
            </a:pPr>
            <a:r>
              <a:t>17:00 - 17:45 (3 demos, 15 mins each)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9795"/>
                </a:solidFill>
              </a:defRPr>
            </a:pPr>
            <a:r>
              <a:t>multiagents.org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wm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1371600" cy="13452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0" y="1371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365D"/>
                </a:solidFill>
              </a:defRPr>
            </a:pPr>
            <a:r>
              <a:t>WMAC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</a:defRPr>
            </a:pPr>
            <a:r>
              <a:t>AAAI 2026 Bridge Program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</a:defRPr>
            </a:pPr>
            <a:r>
              <a:t>Advancing LLM-Based Multi-Agent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</a:defRPr>
            </a:pPr>
            <a:r>
              <a:t>January 20, 2026, Singapore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9795"/>
                </a:solidFill>
              </a:defRPr>
            </a:pPr>
            <a:r>
              <a:t>multiagents.org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wm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914400" cy="896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65D"/>
                </a:solidFill>
              </a:defRPr>
            </a:pPr>
            <a:r>
              <a:t>WMAC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7772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AAAI 2026 Bridge Program on Advancing LLM-Based Multi-Agent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365D"/>
                </a:solidFill>
              </a:defRPr>
            </a:pPr>
            <a:r>
              <a:t>BEST PAPER AWARD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wm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914400" cy="896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65D"/>
                </a:solidFill>
              </a:defRPr>
            </a:pPr>
            <a:r>
              <a:t>WMAC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7772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AAAI 2026 Bridge Program on Advancing LLM-Based Multi-Agent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365D"/>
                </a:solidFill>
              </a:defRPr>
            </a:pPr>
            <a:r>
              <a:t>CLOSING REMARKS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wm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914400" cy="896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65D"/>
                </a:solidFill>
              </a:defRPr>
            </a:pPr>
            <a:r>
              <a:t>WMAC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7772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AAAI 2026 Bridge Program on Advancing LLM-Based Multi-Agent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